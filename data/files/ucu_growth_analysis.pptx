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4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731520" y="1097280"/>
            <a:ext cx="7315200" cy="365760"/>
          </a:xfrm>
          <a:prstGeom prst="rect">
            <a:avLst/>
          </a:prstGeom>
          <a:noFill/>
          <a:ln/>
        </p:spPr>
        <p:txBody>
          <a:bodyPr wrap="square" rtlCol="0" anchor="ctr"/>
          <a:lstStyle/>
          <a:p>
            <a:pPr indent="0" marL="0">
              <a:buNone/>
            </a:pPr>
            <a:r>
              <a:rPr lang="en-US" sz="1200" b="1" spc="400" kern="0" dirty="0">
                <a:solidFill>
                  <a:srgbClr val="0891B2"/>
                </a:solidFill>
                <a:latin typeface="Trebuchet MS" pitchFamily="34" charset="0"/>
                <a:ea typeface="Trebuchet MS" pitchFamily="34" charset="-122"/>
                <a:cs typeface="Trebuchet MS" pitchFamily="34" charset="-120"/>
              </a:rPr>
              <a:t>CREDIT UNION PARTNERSHIP GROWTH STRATEGY</a:t>
            </a:r>
            <a:endParaRPr lang="en-US" sz="1200" dirty="0"/>
          </a:p>
        </p:txBody>
      </p:sp>
      <p:sp>
        <p:nvSpPr>
          <p:cNvPr id="4" name="Text 2"/>
          <p:cNvSpPr/>
          <p:nvPr/>
        </p:nvSpPr>
        <p:spPr>
          <a:xfrm>
            <a:off x="731520" y="1554480"/>
            <a:ext cx="7772400" cy="91440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UCU Opportunity Scorecard</a:t>
            </a:r>
            <a:endParaRPr lang="en-US" sz="3800" dirty="0"/>
          </a:p>
        </p:txBody>
      </p:sp>
      <p:sp>
        <p:nvSpPr>
          <p:cNvPr id="5" name="Text 3"/>
          <p:cNvSpPr/>
          <p:nvPr/>
        </p:nvSpPr>
        <p:spPr>
          <a:xfrm>
            <a:off x="731520" y="2468880"/>
            <a:ext cx="6400800" cy="45720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A Data-Driven Framework for Prioritizing University Partnerships</a:t>
            </a:r>
            <a:endParaRPr lang="en-US" sz="1600" dirty="0"/>
          </a:p>
        </p:txBody>
      </p:sp>
      <p:sp>
        <p:nvSpPr>
          <p:cNvPr id="6" name="Shape 4"/>
          <p:cNvSpPr/>
          <p:nvPr/>
        </p:nvSpPr>
        <p:spPr>
          <a:xfrm>
            <a:off x="731520" y="3200400"/>
            <a:ext cx="2286000" cy="36576"/>
          </a:xfrm>
          <a:prstGeom prst="rect">
            <a:avLst/>
          </a:prstGeom>
          <a:solidFill>
            <a:srgbClr val="F59E0B"/>
          </a:solidFill>
          <a:ln/>
        </p:spPr>
      </p:sp>
      <p:sp>
        <p:nvSpPr>
          <p:cNvPr id="7" name="Text 5"/>
          <p:cNvSpPr/>
          <p:nvPr/>
        </p:nvSpPr>
        <p:spPr>
          <a:xfrm>
            <a:off x="731520" y="3474720"/>
            <a:ext cx="5486400" cy="10972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Pranav Piedy</a:t>
            </a:r>
            <a:endParaRPr lang="en-US" sz="1400" dirty="0"/>
          </a:p>
          <a:p>
            <a:pPr indent="0" marL="0">
              <a:buNone/>
            </a:pPr>
            <a:r>
              <a:rPr lang="en-US" sz="1200" dirty="0">
                <a:solidFill>
                  <a:srgbClr val="94A3B8"/>
                </a:solidFill>
                <a:latin typeface="Calibri" pitchFamily="34" charset="0"/>
                <a:ea typeface="Calibri" pitchFamily="34" charset="-122"/>
                <a:cs typeface="Calibri" pitchFamily="34" charset="-120"/>
              </a:rPr>
              <a:t>UCLA Anderson MSBA '26  |  March 2026</a:t>
            </a:r>
            <a:endParaRPr lang="en-US" sz="1400" dirty="0"/>
          </a:p>
          <a:p>
            <a:pPr indent="0" marL="0">
              <a:buNone/>
            </a:pPr>
            <a:r>
              <a:rPr lang="en-US" sz="1000" dirty="0">
                <a:solidFill>
                  <a:srgbClr val="64748B"/>
                </a:solidFill>
                <a:latin typeface="Calibri" pitchFamily="34" charset="0"/>
                <a:ea typeface="Calibri" pitchFamily="34" charset="-122"/>
                <a:cs typeface="Calibri" pitchFamily="34" charset="-120"/>
              </a:rPr>
              <a:t>Data Sources: IPEDS  ·  NCUA 5300 Call Reports  ·  U.S. Census Bureau</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B365D"/>
          </a:solidFill>
          <a:ln/>
        </p:spPr>
      </p:sp>
      <p:sp>
        <p:nvSpPr>
          <p:cNvPr id="3" name="Text 1"/>
          <p:cNvSpPr/>
          <p:nvPr/>
        </p:nvSpPr>
        <p:spPr>
          <a:xfrm>
            <a:off x="640080" y="274320"/>
            <a:ext cx="7315200" cy="54864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The Growth Opportunity</a:t>
            </a:r>
            <a:endParaRPr lang="en-US" sz="2800" dirty="0"/>
          </a:p>
        </p:txBody>
      </p:sp>
      <p:sp>
        <p:nvSpPr>
          <p:cNvPr id="4" name="Text 2"/>
          <p:cNvSpPr/>
          <p:nvPr/>
        </p:nvSpPr>
        <p:spPr>
          <a:xfrm>
            <a:off x="640080" y="822960"/>
            <a:ext cx="7772400" cy="45720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UCU serves 50,000+ members across 14+ university partners — but the addressable market exceeds 450,000.</a:t>
            </a:r>
            <a:endParaRPr lang="en-US" sz="1300" dirty="0"/>
          </a:p>
        </p:txBody>
      </p:sp>
      <p:sp>
        <p:nvSpPr>
          <p:cNvPr id="5" name="Shape 3"/>
          <p:cNvSpPr/>
          <p:nvPr/>
        </p:nvSpPr>
        <p:spPr>
          <a:xfrm>
            <a:off x="640080" y="1554480"/>
            <a:ext cx="2560320" cy="1828800"/>
          </a:xfrm>
          <a:prstGeom prst="rect">
            <a:avLst/>
          </a:prstGeom>
          <a:solidFill>
            <a:srgbClr val="EFF6FF"/>
          </a:solidFill>
          <a:ln/>
          <a:effectLst>
            <a:outerShdw sx="100000" sy="100000" kx="0" ky="0" algn="bl" rotWithShape="0" blurRad="101600" dist="38100" dir="8100000">
              <a:srgbClr val="000000">
                <a:alpha val="10000"/>
              </a:srgbClr>
            </a:outerShdw>
          </a:effectLst>
        </p:spPr>
      </p:sp>
      <p:sp>
        <p:nvSpPr>
          <p:cNvPr id="6" name="Shape 4"/>
          <p:cNvSpPr/>
          <p:nvPr/>
        </p:nvSpPr>
        <p:spPr>
          <a:xfrm>
            <a:off x="640080" y="1554480"/>
            <a:ext cx="54864" cy="1828800"/>
          </a:xfrm>
          <a:prstGeom prst="rect">
            <a:avLst/>
          </a:prstGeom>
          <a:solidFill>
            <a:srgbClr val="1B365D"/>
          </a:solidFill>
          <a:ln/>
        </p:spPr>
      </p:sp>
      <p:sp>
        <p:nvSpPr>
          <p:cNvPr id="7" name="Text 5"/>
          <p:cNvSpPr/>
          <p:nvPr/>
        </p:nvSpPr>
        <p:spPr>
          <a:xfrm>
            <a:off x="822960" y="1645920"/>
            <a:ext cx="2194560" cy="640080"/>
          </a:xfrm>
          <a:prstGeom prst="rect">
            <a:avLst/>
          </a:prstGeom>
          <a:noFill/>
          <a:ln/>
        </p:spPr>
        <p:txBody>
          <a:bodyPr wrap="square" lIns="0" tIns="0" rIns="0" bIns="0" rtlCol="0" anchor="ctr"/>
          <a:lstStyle/>
          <a:p>
            <a:pPr indent="0" marL="0">
              <a:buNone/>
            </a:pPr>
            <a:r>
              <a:rPr lang="en-US" sz="3600" b="1" dirty="0">
                <a:solidFill>
                  <a:srgbClr val="1B365D"/>
                </a:solidFill>
                <a:latin typeface="Georgia" pitchFamily="34" charset="0"/>
                <a:ea typeface="Georgia" pitchFamily="34" charset="-122"/>
                <a:cs typeface="Georgia" pitchFamily="34" charset="-120"/>
              </a:rPr>
              <a:t>454K+</a:t>
            </a:r>
            <a:endParaRPr lang="en-US" sz="3600" dirty="0"/>
          </a:p>
        </p:txBody>
      </p:sp>
      <p:sp>
        <p:nvSpPr>
          <p:cNvPr id="8" name="Text 6"/>
          <p:cNvSpPr/>
          <p:nvPr/>
        </p:nvSpPr>
        <p:spPr>
          <a:xfrm>
            <a:off x="822960" y="2286000"/>
            <a:ext cx="2194560" cy="5486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Total Addressable</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Market</a:t>
            </a:r>
            <a:endParaRPr lang="en-US" sz="1200" dirty="0"/>
          </a:p>
        </p:txBody>
      </p:sp>
      <p:sp>
        <p:nvSpPr>
          <p:cNvPr id="9" name="Text 7"/>
          <p:cNvSpPr/>
          <p:nvPr/>
        </p:nvSpPr>
        <p:spPr>
          <a:xfrm>
            <a:off x="822960" y="2834640"/>
            <a:ext cx="219456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Students + Staff</a:t>
            </a:r>
            <a:endParaRPr lang="en-US" sz="1000" dirty="0"/>
          </a:p>
        </p:txBody>
      </p:sp>
      <p:sp>
        <p:nvSpPr>
          <p:cNvPr id="10" name="Shape 8"/>
          <p:cNvSpPr/>
          <p:nvPr/>
        </p:nvSpPr>
        <p:spPr>
          <a:xfrm>
            <a:off x="3474720" y="1554480"/>
            <a:ext cx="2560320" cy="1828800"/>
          </a:xfrm>
          <a:prstGeom prst="rect">
            <a:avLst/>
          </a:prstGeom>
          <a:solidFill>
            <a:srgbClr val="ECFEFF"/>
          </a:solidFill>
          <a:ln/>
          <a:effectLst>
            <a:outerShdw sx="100000" sy="100000" kx="0" ky="0" algn="bl" rotWithShape="0" blurRad="101600" dist="38100" dir="8100000">
              <a:srgbClr val="000000">
                <a:alpha val="10000"/>
              </a:srgbClr>
            </a:outerShdw>
          </a:effectLst>
        </p:spPr>
      </p:sp>
      <p:sp>
        <p:nvSpPr>
          <p:cNvPr id="11" name="Shape 9"/>
          <p:cNvSpPr/>
          <p:nvPr/>
        </p:nvSpPr>
        <p:spPr>
          <a:xfrm>
            <a:off x="3474720" y="1554480"/>
            <a:ext cx="54864" cy="1828800"/>
          </a:xfrm>
          <a:prstGeom prst="rect">
            <a:avLst/>
          </a:prstGeom>
          <a:solidFill>
            <a:srgbClr val="0891B2"/>
          </a:solidFill>
          <a:ln/>
        </p:spPr>
      </p:sp>
      <p:sp>
        <p:nvSpPr>
          <p:cNvPr id="12" name="Text 10"/>
          <p:cNvSpPr/>
          <p:nvPr/>
        </p:nvSpPr>
        <p:spPr>
          <a:xfrm>
            <a:off x="3657600" y="1645920"/>
            <a:ext cx="2194560" cy="640080"/>
          </a:xfrm>
          <a:prstGeom prst="rect">
            <a:avLst/>
          </a:prstGeom>
          <a:noFill/>
          <a:ln/>
        </p:spPr>
        <p:txBody>
          <a:bodyPr wrap="square" lIns="0" tIns="0" rIns="0" bIns="0" rtlCol="0" anchor="ctr"/>
          <a:lstStyle/>
          <a:p>
            <a:pPr indent="0" marL="0">
              <a:buNone/>
            </a:pPr>
            <a:r>
              <a:rPr lang="en-US" sz="3600" b="1" dirty="0">
                <a:solidFill>
                  <a:srgbClr val="0891B2"/>
                </a:solidFill>
                <a:latin typeface="Georgia" pitchFamily="34" charset="0"/>
                <a:ea typeface="Georgia" pitchFamily="34" charset="-122"/>
                <a:cs typeface="Georgia" pitchFamily="34" charset="-120"/>
              </a:rPr>
              <a:t>~50K</a:t>
            </a:r>
            <a:endParaRPr lang="en-US" sz="3600" dirty="0"/>
          </a:p>
        </p:txBody>
      </p:sp>
      <p:sp>
        <p:nvSpPr>
          <p:cNvPr id="13" name="Text 11"/>
          <p:cNvSpPr/>
          <p:nvPr/>
        </p:nvSpPr>
        <p:spPr>
          <a:xfrm>
            <a:off x="3657600" y="2286000"/>
            <a:ext cx="2194560" cy="5486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Current UCU</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Members</a:t>
            </a:r>
            <a:endParaRPr lang="en-US" sz="1200" dirty="0"/>
          </a:p>
        </p:txBody>
      </p:sp>
      <p:sp>
        <p:nvSpPr>
          <p:cNvPr id="14" name="Text 12"/>
          <p:cNvSpPr/>
          <p:nvPr/>
        </p:nvSpPr>
        <p:spPr>
          <a:xfrm>
            <a:off x="3657600" y="2834640"/>
            <a:ext cx="219456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As of Q4 2024</a:t>
            </a:r>
            <a:endParaRPr lang="en-US" sz="1000" dirty="0"/>
          </a:p>
        </p:txBody>
      </p:sp>
      <p:sp>
        <p:nvSpPr>
          <p:cNvPr id="15" name="Shape 13"/>
          <p:cNvSpPr/>
          <p:nvPr/>
        </p:nvSpPr>
        <p:spPr>
          <a:xfrm>
            <a:off x="6309360" y="1554480"/>
            <a:ext cx="2560320" cy="1828800"/>
          </a:xfrm>
          <a:prstGeom prst="rect">
            <a:avLst/>
          </a:prstGeom>
          <a:solidFill>
            <a:srgbClr val="FEF3C7"/>
          </a:solidFill>
          <a:ln/>
          <a:effectLst>
            <a:outerShdw sx="100000" sy="100000" kx="0" ky="0" algn="bl" rotWithShape="0" blurRad="101600" dist="38100" dir="8100000">
              <a:srgbClr val="000000">
                <a:alpha val="10000"/>
              </a:srgbClr>
            </a:outerShdw>
          </a:effectLst>
        </p:spPr>
      </p:sp>
      <p:sp>
        <p:nvSpPr>
          <p:cNvPr id="16" name="Shape 14"/>
          <p:cNvSpPr/>
          <p:nvPr/>
        </p:nvSpPr>
        <p:spPr>
          <a:xfrm>
            <a:off x="6309360" y="1554480"/>
            <a:ext cx="54864" cy="1828800"/>
          </a:xfrm>
          <a:prstGeom prst="rect">
            <a:avLst/>
          </a:prstGeom>
          <a:solidFill>
            <a:srgbClr val="F59E0B"/>
          </a:solidFill>
          <a:ln/>
        </p:spPr>
      </p:sp>
      <p:sp>
        <p:nvSpPr>
          <p:cNvPr id="17" name="Text 15"/>
          <p:cNvSpPr/>
          <p:nvPr/>
        </p:nvSpPr>
        <p:spPr>
          <a:xfrm>
            <a:off x="6492240" y="1645920"/>
            <a:ext cx="2194560" cy="640080"/>
          </a:xfrm>
          <a:prstGeom prst="rect">
            <a:avLst/>
          </a:prstGeom>
          <a:noFill/>
          <a:ln/>
        </p:spPr>
        <p:txBody>
          <a:bodyPr wrap="square" lIns="0" tIns="0" rIns="0" bIns="0" rtlCol="0" anchor="ctr"/>
          <a:lstStyle/>
          <a:p>
            <a:pPr indent="0" marL="0">
              <a:buNone/>
            </a:pPr>
            <a:r>
              <a:rPr lang="en-US" sz="3600" b="1" dirty="0">
                <a:solidFill>
                  <a:srgbClr val="F59E0B"/>
                </a:solidFill>
                <a:latin typeface="Georgia" pitchFamily="34" charset="0"/>
                <a:ea typeface="Georgia" pitchFamily="34" charset="-122"/>
                <a:cs typeface="Georgia" pitchFamily="34" charset="-120"/>
              </a:rPr>
              <a:t>~10%</a:t>
            </a:r>
            <a:endParaRPr lang="en-US" sz="3600" dirty="0"/>
          </a:p>
        </p:txBody>
      </p:sp>
      <p:sp>
        <p:nvSpPr>
          <p:cNvPr id="18" name="Text 16"/>
          <p:cNvSpPr/>
          <p:nvPr/>
        </p:nvSpPr>
        <p:spPr>
          <a:xfrm>
            <a:off x="6492240" y="2286000"/>
            <a:ext cx="2194560" cy="5486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Current</a:t>
            </a:r>
            <a:endParaRPr lang="en-US" sz="1200" dirty="0"/>
          </a:p>
          <a:p>
            <a:pPr indent="0" marL="0">
              <a:buNone/>
            </a:pPr>
            <a:r>
              <a:rPr lang="en-US" sz="1200" b="1" dirty="0">
                <a:solidFill>
                  <a:srgbClr val="1E293B"/>
                </a:solidFill>
                <a:latin typeface="Calibri" pitchFamily="34" charset="0"/>
                <a:ea typeface="Calibri" pitchFamily="34" charset="-122"/>
                <a:cs typeface="Calibri" pitchFamily="34" charset="-120"/>
              </a:rPr>
              <a:t>Penetration</a:t>
            </a:r>
            <a:endParaRPr lang="en-US" sz="1200" dirty="0"/>
          </a:p>
        </p:txBody>
      </p:sp>
      <p:sp>
        <p:nvSpPr>
          <p:cNvPr id="19" name="Text 17"/>
          <p:cNvSpPr/>
          <p:nvPr/>
        </p:nvSpPr>
        <p:spPr>
          <a:xfrm>
            <a:off x="6492240" y="2834640"/>
            <a:ext cx="219456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Massive Growth Runway</a:t>
            </a:r>
            <a:endParaRPr lang="en-US" sz="1000" dirty="0"/>
          </a:p>
        </p:txBody>
      </p:sp>
      <p:sp>
        <p:nvSpPr>
          <p:cNvPr id="20" name="Text 18"/>
          <p:cNvSpPr/>
          <p:nvPr/>
        </p:nvSpPr>
        <p:spPr>
          <a:xfrm>
            <a:off x="640080" y="3840480"/>
            <a:ext cx="7772400" cy="548640"/>
          </a:xfrm>
          <a:prstGeom prst="rect">
            <a:avLst/>
          </a:prstGeom>
          <a:noFill/>
          <a:ln/>
        </p:spPr>
        <p:txBody>
          <a:bodyPr wrap="square" rtlCol="0" anchor="ctr"/>
          <a:lstStyle/>
          <a:p>
            <a:pPr indent="0" marL="0">
              <a:buNone/>
            </a:pPr>
            <a:r>
              <a:rPr lang="en-US" sz="1300" b="1" i="1" dirty="0">
                <a:solidFill>
                  <a:srgbClr val="1B365D"/>
                </a:solidFill>
                <a:latin typeface="Calibri" pitchFamily="34" charset="0"/>
                <a:ea typeface="Calibri" pitchFamily="34" charset="-122"/>
                <a:cs typeface="Calibri" pitchFamily="34" charset="-120"/>
              </a:rPr>
              <a:t>Question: Which partnerships have the highest growth ceiling, and where should UCU concentrate resources?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B365D"/>
          </a:solidFill>
          <a:ln/>
        </p:spPr>
      </p:sp>
      <p:sp>
        <p:nvSpPr>
          <p:cNvPr id="3" name="Text 1"/>
          <p:cNvSpPr/>
          <p:nvPr/>
        </p:nvSpPr>
        <p:spPr>
          <a:xfrm>
            <a:off x="640080" y="274320"/>
            <a:ext cx="7315200" cy="54864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Approach &amp; Data Sources</a:t>
            </a:r>
            <a:endParaRPr lang="en-US" sz="2800" dirty="0"/>
          </a:p>
        </p:txBody>
      </p:sp>
      <p:sp>
        <p:nvSpPr>
          <p:cNvPr id="4" name="Text 2"/>
          <p:cNvSpPr/>
          <p:nvPr/>
        </p:nvSpPr>
        <p:spPr>
          <a:xfrm>
            <a:off x="640080" y="822960"/>
            <a:ext cx="7772400" cy="36576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Integrated three federal data sources to build a composite opportunity score for each partner university.</a:t>
            </a:r>
            <a:endParaRPr lang="en-US" sz="1300" dirty="0"/>
          </a:p>
        </p:txBody>
      </p:sp>
      <p:sp>
        <p:nvSpPr>
          <p:cNvPr id="5" name="Shape 3"/>
          <p:cNvSpPr/>
          <p:nvPr/>
        </p:nvSpPr>
        <p:spPr>
          <a:xfrm>
            <a:off x="640080" y="1371600"/>
            <a:ext cx="2560320" cy="2011680"/>
          </a:xfrm>
          <a:prstGeom prst="rect">
            <a:avLst/>
          </a:prstGeom>
          <a:solidFill>
            <a:srgbClr val="F1F5F9"/>
          </a:solidFill>
          <a:ln/>
          <a:effectLst>
            <a:outerShdw sx="100000" sy="100000" kx="0" ky="0" algn="bl" rotWithShape="0" blurRad="101600" dist="38100" dir="8100000">
              <a:srgbClr val="000000">
                <a:alpha val="10000"/>
              </a:srgbClr>
            </a:outerShdw>
          </a:effectLst>
        </p:spPr>
      </p:sp>
      <p:sp>
        <p:nvSpPr>
          <p:cNvPr id="6" name="Shape 4"/>
          <p:cNvSpPr/>
          <p:nvPr/>
        </p:nvSpPr>
        <p:spPr>
          <a:xfrm>
            <a:off x="1463040" y="1508760"/>
            <a:ext cx="640080" cy="640080"/>
          </a:xfrm>
          <a:prstGeom prst="ellipse">
            <a:avLst/>
          </a:prstGeom>
          <a:solidFill>
            <a:srgbClr val="1B365D"/>
          </a:solidFill>
          <a:ln/>
        </p:spPr>
      </p:sp>
      <p:pic>
        <p:nvPicPr>
          <p:cNvPr id="7" name="Image 0" descr="preencoded.png">    </p:cNvPr>
          <p:cNvPicPr>
            <a:picLocks noChangeAspect="1"/>
          </p:cNvPicPr>
          <p:nvPr/>
        </p:nvPicPr>
        <p:blipFill>
          <a:blip r:embed="rId1"/>
          <a:stretch>
            <a:fillRect/>
          </a:stretch>
        </p:blipFill>
        <p:spPr>
          <a:xfrm>
            <a:off x="1581912" y="1627632"/>
            <a:ext cx="402336" cy="402336"/>
          </a:xfrm>
          <a:prstGeom prst="rect">
            <a:avLst/>
          </a:prstGeom>
        </p:spPr>
      </p:pic>
      <p:sp>
        <p:nvSpPr>
          <p:cNvPr id="8" name="Text 5"/>
          <p:cNvSpPr/>
          <p:nvPr/>
        </p:nvSpPr>
        <p:spPr>
          <a:xfrm>
            <a:off x="777240" y="2240280"/>
            <a:ext cx="2286000" cy="32004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IPEDS (NCES)</a:t>
            </a:r>
            <a:endParaRPr lang="en-US" sz="1300" dirty="0"/>
          </a:p>
        </p:txBody>
      </p:sp>
      <p:sp>
        <p:nvSpPr>
          <p:cNvPr id="9" name="Text 6"/>
          <p:cNvSpPr/>
          <p:nvPr/>
        </p:nvSpPr>
        <p:spPr>
          <a:xfrm>
            <a:off x="777240" y="2560320"/>
            <a:ext cx="2286000" cy="7315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Enrollment, staff, graduation</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rates for all 14 UCU partner</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schools (2019-2024)</a:t>
            </a:r>
            <a:endParaRPr lang="en-US" sz="1000" dirty="0"/>
          </a:p>
        </p:txBody>
      </p:sp>
      <p:sp>
        <p:nvSpPr>
          <p:cNvPr id="10" name="Shape 7"/>
          <p:cNvSpPr/>
          <p:nvPr/>
        </p:nvSpPr>
        <p:spPr>
          <a:xfrm>
            <a:off x="3474720" y="1371600"/>
            <a:ext cx="2560320" cy="2011680"/>
          </a:xfrm>
          <a:prstGeom prst="rect">
            <a:avLst/>
          </a:prstGeom>
          <a:solidFill>
            <a:srgbClr val="F1F5F9"/>
          </a:solidFill>
          <a:ln/>
          <a:effectLst>
            <a:outerShdw sx="100000" sy="100000" kx="0" ky="0" algn="bl" rotWithShape="0" blurRad="101600" dist="38100" dir="8100000">
              <a:srgbClr val="000000">
                <a:alpha val="10000"/>
              </a:srgbClr>
            </a:outerShdw>
          </a:effectLst>
        </p:spPr>
      </p:sp>
      <p:sp>
        <p:nvSpPr>
          <p:cNvPr id="11" name="Shape 8"/>
          <p:cNvSpPr/>
          <p:nvPr/>
        </p:nvSpPr>
        <p:spPr>
          <a:xfrm>
            <a:off x="4297680" y="1508760"/>
            <a:ext cx="640080" cy="640080"/>
          </a:xfrm>
          <a:prstGeom prst="ellipse">
            <a:avLst/>
          </a:prstGeom>
          <a:solidFill>
            <a:srgbClr val="0891B2"/>
          </a:solidFill>
          <a:ln/>
        </p:spPr>
      </p:sp>
      <p:pic>
        <p:nvPicPr>
          <p:cNvPr id="12" name="Image 1" descr="preencoded.png">    </p:cNvPr>
          <p:cNvPicPr>
            <a:picLocks noChangeAspect="1"/>
          </p:cNvPicPr>
          <p:nvPr/>
        </p:nvPicPr>
        <p:blipFill>
          <a:blip r:embed="rId2"/>
          <a:stretch>
            <a:fillRect/>
          </a:stretch>
        </p:blipFill>
        <p:spPr>
          <a:xfrm>
            <a:off x="4416552" y="1627632"/>
            <a:ext cx="402336" cy="402336"/>
          </a:xfrm>
          <a:prstGeom prst="rect">
            <a:avLst/>
          </a:prstGeom>
        </p:spPr>
      </p:pic>
      <p:sp>
        <p:nvSpPr>
          <p:cNvPr id="13" name="Text 9"/>
          <p:cNvSpPr/>
          <p:nvPr/>
        </p:nvSpPr>
        <p:spPr>
          <a:xfrm>
            <a:off x="3611880" y="2240280"/>
            <a:ext cx="2286000" cy="32004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NCUA 5300 Reports</a:t>
            </a:r>
            <a:endParaRPr lang="en-US" sz="1300" dirty="0"/>
          </a:p>
        </p:txBody>
      </p:sp>
      <p:sp>
        <p:nvSpPr>
          <p:cNvPr id="14" name="Text 10"/>
          <p:cNvSpPr/>
          <p:nvPr/>
        </p:nvSpPr>
        <p:spPr>
          <a:xfrm>
            <a:off x="3611880" y="2560320"/>
            <a:ext cx="2286000" cy="7315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UCU quarterly financials:</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membership, assets, loans,</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deposits (2019-2024)</a:t>
            </a:r>
            <a:endParaRPr lang="en-US" sz="1000" dirty="0"/>
          </a:p>
        </p:txBody>
      </p:sp>
      <p:sp>
        <p:nvSpPr>
          <p:cNvPr id="15" name="Shape 11"/>
          <p:cNvSpPr/>
          <p:nvPr/>
        </p:nvSpPr>
        <p:spPr>
          <a:xfrm>
            <a:off x="6309360" y="1371600"/>
            <a:ext cx="2560320" cy="2011680"/>
          </a:xfrm>
          <a:prstGeom prst="rect">
            <a:avLst/>
          </a:prstGeom>
          <a:solidFill>
            <a:srgbClr val="F1F5F9"/>
          </a:solidFill>
          <a:ln/>
          <a:effectLst>
            <a:outerShdw sx="100000" sy="100000" kx="0" ky="0" algn="bl" rotWithShape="0" blurRad="101600" dist="38100" dir="8100000">
              <a:srgbClr val="000000">
                <a:alpha val="10000"/>
              </a:srgbClr>
            </a:outerShdw>
          </a:effectLst>
        </p:spPr>
      </p:sp>
      <p:sp>
        <p:nvSpPr>
          <p:cNvPr id="16" name="Shape 12"/>
          <p:cNvSpPr/>
          <p:nvPr/>
        </p:nvSpPr>
        <p:spPr>
          <a:xfrm>
            <a:off x="7132320" y="1508760"/>
            <a:ext cx="640080" cy="640080"/>
          </a:xfrm>
          <a:prstGeom prst="ellipse">
            <a:avLst/>
          </a:prstGeom>
          <a:solidFill>
            <a:srgbClr val="F59E0B"/>
          </a:solidFill>
          <a:ln/>
        </p:spPr>
      </p:sp>
      <p:pic>
        <p:nvPicPr>
          <p:cNvPr id="17" name="Image 2" descr="preencoded.png">    </p:cNvPr>
          <p:cNvPicPr>
            <a:picLocks noChangeAspect="1"/>
          </p:cNvPicPr>
          <p:nvPr/>
        </p:nvPicPr>
        <p:blipFill>
          <a:blip r:embed="rId3"/>
          <a:stretch>
            <a:fillRect/>
          </a:stretch>
        </p:blipFill>
        <p:spPr>
          <a:xfrm>
            <a:off x="7251192" y="1627632"/>
            <a:ext cx="402336" cy="402336"/>
          </a:xfrm>
          <a:prstGeom prst="rect">
            <a:avLst/>
          </a:prstGeom>
        </p:spPr>
      </p:pic>
      <p:sp>
        <p:nvSpPr>
          <p:cNvPr id="18" name="Text 13"/>
          <p:cNvSpPr/>
          <p:nvPr/>
        </p:nvSpPr>
        <p:spPr>
          <a:xfrm>
            <a:off x="6446520" y="2240280"/>
            <a:ext cx="2286000" cy="32004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U.S. Census Bureau</a:t>
            </a:r>
            <a:endParaRPr lang="en-US" sz="1300" dirty="0"/>
          </a:p>
        </p:txBody>
      </p:sp>
      <p:sp>
        <p:nvSpPr>
          <p:cNvPr id="19" name="Text 14"/>
          <p:cNvSpPr/>
          <p:nvPr/>
        </p:nvSpPr>
        <p:spPr>
          <a:xfrm>
            <a:off x="6446520" y="2560320"/>
            <a:ext cx="2286000" cy="7315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Median income, cost of living</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by campus metro area</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(demographic context)</a:t>
            </a:r>
            <a:endParaRPr lang="en-US" sz="1000" dirty="0"/>
          </a:p>
        </p:txBody>
      </p:sp>
      <p:sp>
        <p:nvSpPr>
          <p:cNvPr id="20" name="Shape 15"/>
          <p:cNvSpPr/>
          <p:nvPr/>
        </p:nvSpPr>
        <p:spPr>
          <a:xfrm>
            <a:off x="640080" y="3657600"/>
            <a:ext cx="7863840" cy="1097280"/>
          </a:xfrm>
          <a:prstGeom prst="rect">
            <a:avLst/>
          </a:prstGeom>
          <a:solidFill>
            <a:srgbClr val="F8FAFC"/>
          </a:solidFill>
          <a:ln/>
          <a:effectLst>
            <a:outerShdw sx="100000" sy="100000" kx="0" ky="0" algn="bl" rotWithShape="0" blurRad="101600" dist="38100" dir="8100000">
              <a:srgbClr val="000000">
                <a:alpha val="10000"/>
              </a:srgbClr>
            </a:outerShdw>
          </a:effectLst>
        </p:spPr>
      </p:sp>
      <p:sp>
        <p:nvSpPr>
          <p:cNvPr id="21" name="Text 16"/>
          <p:cNvSpPr/>
          <p:nvPr/>
        </p:nvSpPr>
        <p:spPr>
          <a:xfrm>
            <a:off x="822960" y="3703320"/>
            <a:ext cx="3657600" cy="3200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Composite Opportunity Score =</a:t>
            </a:r>
            <a:endParaRPr lang="en-US" sz="1200" dirty="0"/>
          </a:p>
        </p:txBody>
      </p:sp>
      <p:sp>
        <p:nvSpPr>
          <p:cNvPr id="22" name="Shape 17"/>
          <p:cNvSpPr/>
          <p:nvPr/>
        </p:nvSpPr>
        <p:spPr>
          <a:xfrm>
            <a:off x="822960" y="4069080"/>
            <a:ext cx="1783080" cy="548640"/>
          </a:xfrm>
          <a:prstGeom prst="rect">
            <a:avLst/>
          </a:prstGeom>
          <a:solidFill>
            <a:srgbClr val="1B365D"/>
          </a:solidFill>
          <a:ln/>
        </p:spPr>
      </p:sp>
      <p:sp>
        <p:nvSpPr>
          <p:cNvPr id="23" name="Text 18"/>
          <p:cNvSpPr/>
          <p:nvPr/>
        </p:nvSpPr>
        <p:spPr>
          <a:xfrm>
            <a:off x="822960" y="4069080"/>
            <a:ext cx="178308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Market Size</a:t>
            </a:r>
            <a:endParaRPr lang="en-US" sz="1000" dirty="0"/>
          </a:p>
          <a:p>
            <a:pPr algn="ctr" indent="0" marL="0">
              <a:buNone/>
            </a:pPr>
            <a:r>
              <a:rPr lang="en-US" sz="1400" b="1" dirty="0">
                <a:solidFill>
                  <a:srgbClr val="FFFFFF"/>
                </a:solidFill>
                <a:latin typeface="Calibri" pitchFamily="34" charset="0"/>
                <a:ea typeface="Calibri" pitchFamily="34" charset="-122"/>
                <a:cs typeface="Calibri" pitchFamily="34" charset="-120"/>
              </a:rPr>
              <a:t>40%</a:t>
            </a:r>
            <a:endParaRPr lang="en-US" sz="1000" dirty="0"/>
          </a:p>
        </p:txBody>
      </p:sp>
      <p:sp>
        <p:nvSpPr>
          <p:cNvPr id="24" name="Shape 19"/>
          <p:cNvSpPr/>
          <p:nvPr/>
        </p:nvSpPr>
        <p:spPr>
          <a:xfrm>
            <a:off x="2788920" y="4069080"/>
            <a:ext cx="1783080" cy="548640"/>
          </a:xfrm>
          <a:prstGeom prst="rect">
            <a:avLst/>
          </a:prstGeom>
          <a:solidFill>
            <a:srgbClr val="0891B2"/>
          </a:solidFill>
          <a:ln/>
        </p:spPr>
      </p:sp>
      <p:sp>
        <p:nvSpPr>
          <p:cNvPr id="25" name="Text 20"/>
          <p:cNvSpPr/>
          <p:nvPr/>
        </p:nvSpPr>
        <p:spPr>
          <a:xfrm>
            <a:off x="2788920" y="4069080"/>
            <a:ext cx="178308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Growth Momentum</a:t>
            </a:r>
            <a:endParaRPr lang="en-US" sz="1000" dirty="0"/>
          </a:p>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000" dirty="0"/>
          </a:p>
        </p:txBody>
      </p:sp>
      <p:sp>
        <p:nvSpPr>
          <p:cNvPr id="26" name="Shape 21"/>
          <p:cNvSpPr/>
          <p:nvPr/>
        </p:nvSpPr>
        <p:spPr>
          <a:xfrm>
            <a:off x="4754880" y="4069080"/>
            <a:ext cx="1783080" cy="548640"/>
          </a:xfrm>
          <a:prstGeom prst="rect">
            <a:avLst/>
          </a:prstGeom>
          <a:solidFill>
            <a:srgbClr val="F59E0B"/>
          </a:solidFill>
          <a:ln/>
        </p:spPr>
      </p:sp>
      <p:sp>
        <p:nvSpPr>
          <p:cNvPr id="27" name="Text 22"/>
          <p:cNvSpPr/>
          <p:nvPr/>
        </p:nvSpPr>
        <p:spPr>
          <a:xfrm>
            <a:off x="4754880" y="4069080"/>
            <a:ext cx="178308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Financial Need</a:t>
            </a:r>
            <a:endParaRPr lang="en-US" sz="1000" dirty="0"/>
          </a:p>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000" dirty="0"/>
          </a:p>
        </p:txBody>
      </p:sp>
      <p:sp>
        <p:nvSpPr>
          <p:cNvPr id="28" name="Shape 23"/>
          <p:cNvSpPr/>
          <p:nvPr/>
        </p:nvSpPr>
        <p:spPr>
          <a:xfrm>
            <a:off x="6720840" y="4069080"/>
            <a:ext cx="1783080" cy="548640"/>
          </a:xfrm>
          <a:prstGeom prst="rect">
            <a:avLst/>
          </a:prstGeom>
          <a:solidFill>
            <a:srgbClr val="10B981"/>
          </a:solidFill>
          <a:ln/>
        </p:spPr>
      </p:sp>
      <p:sp>
        <p:nvSpPr>
          <p:cNvPr id="29" name="Text 24"/>
          <p:cNvSpPr/>
          <p:nvPr/>
        </p:nvSpPr>
        <p:spPr>
          <a:xfrm>
            <a:off x="6720840" y="4069080"/>
            <a:ext cx="178308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Partnership Freshness</a:t>
            </a:r>
            <a:endParaRPr lang="en-US" sz="1000" dirty="0"/>
          </a:p>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B365D"/>
          </a:solidFill>
          <a:ln/>
        </p:spPr>
      </p:sp>
      <p:sp>
        <p:nvSpPr>
          <p:cNvPr id="3" name="Text 1"/>
          <p:cNvSpPr/>
          <p:nvPr/>
        </p:nvSpPr>
        <p:spPr>
          <a:xfrm>
            <a:off x="640080" y="274320"/>
            <a:ext cx="7315200" cy="54864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Partnership Opportunity Scorecard</a:t>
            </a:r>
            <a:endParaRPr lang="en-US" sz="2800" dirty="0"/>
          </a:p>
        </p:txBody>
      </p:sp>
      <p:sp>
        <p:nvSpPr>
          <p:cNvPr id="4" name="Shape 2"/>
          <p:cNvSpPr/>
          <p:nvPr/>
        </p:nvSpPr>
        <p:spPr>
          <a:xfrm>
            <a:off x="640080" y="1005840"/>
            <a:ext cx="7863840" cy="365760"/>
          </a:xfrm>
          <a:prstGeom prst="rect">
            <a:avLst/>
          </a:prstGeom>
          <a:solidFill>
            <a:srgbClr val="1B365D"/>
          </a:solidFill>
          <a:ln/>
        </p:spPr>
      </p:sp>
      <p:sp>
        <p:nvSpPr>
          <p:cNvPr id="5" name="Text 3"/>
          <p:cNvSpPr/>
          <p:nvPr/>
        </p:nvSpPr>
        <p:spPr>
          <a:xfrm>
            <a:off x="731520" y="1005840"/>
            <a:ext cx="274320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University</a:t>
            </a:r>
            <a:endParaRPr lang="en-US" sz="1000" dirty="0"/>
          </a:p>
        </p:txBody>
      </p:sp>
      <p:sp>
        <p:nvSpPr>
          <p:cNvPr id="6" name="Text 4"/>
          <p:cNvSpPr/>
          <p:nvPr/>
        </p:nvSpPr>
        <p:spPr>
          <a:xfrm>
            <a:off x="3474720" y="1005840"/>
            <a:ext cx="10972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TAM</a:t>
            </a:r>
            <a:endParaRPr lang="en-US" sz="1000" dirty="0"/>
          </a:p>
        </p:txBody>
      </p:sp>
      <p:sp>
        <p:nvSpPr>
          <p:cNvPr id="7" name="Text 5"/>
          <p:cNvSpPr/>
          <p:nvPr/>
        </p:nvSpPr>
        <p:spPr>
          <a:xfrm>
            <a:off x="4572000" y="1005840"/>
            <a:ext cx="13716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Score</a:t>
            </a:r>
            <a:endParaRPr lang="en-US" sz="1000" dirty="0"/>
          </a:p>
        </p:txBody>
      </p:sp>
      <p:sp>
        <p:nvSpPr>
          <p:cNvPr id="8" name="Text 6"/>
          <p:cNvSpPr/>
          <p:nvPr/>
        </p:nvSpPr>
        <p:spPr>
          <a:xfrm>
            <a:off x="5943600" y="1005840"/>
            <a:ext cx="25603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Tier</a:t>
            </a:r>
            <a:endParaRPr lang="en-US" sz="1000" dirty="0"/>
          </a:p>
        </p:txBody>
      </p:sp>
      <p:sp>
        <p:nvSpPr>
          <p:cNvPr id="9" name="Shape 7"/>
          <p:cNvSpPr/>
          <p:nvPr/>
        </p:nvSpPr>
        <p:spPr>
          <a:xfrm>
            <a:off x="640080" y="1417320"/>
            <a:ext cx="7863840" cy="402336"/>
          </a:xfrm>
          <a:prstGeom prst="rect">
            <a:avLst/>
          </a:prstGeom>
          <a:solidFill>
            <a:srgbClr val="F8FAFC"/>
          </a:solidFill>
          <a:ln/>
        </p:spPr>
      </p:sp>
      <p:sp>
        <p:nvSpPr>
          <p:cNvPr id="10" name="Text 8"/>
          <p:cNvSpPr/>
          <p:nvPr/>
        </p:nvSpPr>
        <p:spPr>
          <a:xfrm>
            <a:off x="731520" y="1417320"/>
            <a:ext cx="2743200" cy="40233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Georgia Tech</a:t>
            </a:r>
            <a:endParaRPr lang="en-US" sz="1200" dirty="0"/>
          </a:p>
        </p:txBody>
      </p:sp>
      <p:sp>
        <p:nvSpPr>
          <p:cNvPr id="11" name="Text 9"/>
          <p:cNvSpPr/>
          <p:nvPr/>
        </p:nvSpPr>
        <p:spPr>
          <a:xfrm>
            <a:off x="3474720" y="1417320"/>
            <a:ext cx="1097280" cy="402336"/>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62K</a:t>
            </a:r>
            <a:endParaRPr lang="en-US" sz="1200" dirty="0"/>
          </a:p>
        </p:txBody>
      </p:sp>
      <p:sp>
        <p:nvSpPr>
          <p:cNvPr id="12" name="Shape 10"/>
          <p:cNvSpPr/>
          <p:nvPr/>
        </p:nvSpPr>
        <p:spPr>
          <a:xfrm>
            <a:off x="4663440" y="1554480"/>
            <a:ext cx="1188720" cy="128016"/>
          </a:xfrm>
          <a:prstGeom prst="rect">
            <a:avLst/>
          </a:prstGeom>
          <a:solidFill>
            <a:srgbClr val="E2E8F0"/>
          </a:solidFill>
          <a:ln/>
        </p:spPr>
      </p:sp>
      <p:sp>
        <p:nvSpPr>
          <p:cNvPr id="13" name="Shape 11"/>
          <p:cNvSpPr/>
          <p:nvPr/>
        </p:nvSpPr>
        <p:spPr>
          <a:xfrm>
            <a:off x="4663440" y="1554480"/>
            <a:ext cx="1034186" cy="128016"/>
          </a:xfrm>
          <a:prstGeom prst="rect">
            <a:avLst/>
          </a:prstGeom>
          <a:solidFill>
            <a:srgbClr val="10B981"/>
          </a:solidFill>
          <a:ln/>
        </p:spPr>
      </p:sp>
      <p:sp>
        <p:nvSpPr>
          <p:cNvPr id="14" name="Text 12"/>
          <p:cNvSpPr/>
          <p:nvPr/>
        </p:nvSpPr>
        <p:spPr>
          <a:xfrm>
            <a:off x="5897880" y="1417320"/>
            <a:ext cx="365760" cy="40233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87</a:t>
            </a:r>
            <a:endParaRPr lang="en-US" sz="1100" dirty="0"/>
          </a:p>
        </p:txBody>
      </p:sp>
      <p:sp>
        <p:nvSpPr>
          <p:cNvPr id="15" name="Text 13"/>
          <p:cNvSpPr/>
          <p:nvPr/>
        </p:nvSpPr>
        <p:spPr>
          <a:xfrm>
            <a:off x="6309360" y="1417320"/>
            <a:ext cx="2194560" cy="402336"/>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Prioritize</a:t>
            </a:r>
            <a:endParaRPr lang="en-US" sz="1100" dirty="0"/>
          </a:p>
        </p:txBody>
      </p:sp>
      <p:sp>
        <p:nvSpPr>
          <p:cNvPr id="16" name="Shape 14"/>
          <p:cNvSpPr/>
          <p:nvPr/>
        </p:nvSpPr>
        <p:spPr>
          <a:xfrm>
            <a:off x="640080" y="1856232"/>
            <a:ext cx="7863840" cy="402336"/>
          </a:xfrm>
          <a:prstGeom prst="rect">
            <a:avLst/>
          </a:prstGeom>
          <a:solidFill>
            <a:srgbClr val="FFFFFF"/>
          </a:solidFill>
          <a:ln/>
        </p:spPr>
      </p:sp>
      <p:sp>
        <p:nvSpPr>
          <p:cNvPr id="17" name="Text 15"/>
          <p:cNvSpPr/>
          <p:nvPr/>
        </p:nvSpPr>
        <p:spPr>
          <a:xfrm>
            <a:off x="731520" y="1856232"/>
            <a:ext cx="2743200" cy="40233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UC Davis</a:t>
            </a:r>
            <a:endParaRPr lang="en-US" sz="1200" dirty="0"/>
          </a:p>
        </p:txBody>
      </p:sp>
      <p:sp>
        <p:nvSpPr>
          <p:cNvPr id="18" name="Text 16"/>
          <p:cNvSpPr/>
          <p:nvPr/>
        </p:nvSpPr>
        <p:spPr>
          <a:xfrm>
            <a:off x="3474720" y="1856232"/>
            <a:ext cx="1097280" cy="402336"/>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66K</a:t>
            </a:r>
            <a:endParaRPr lang="en-US" sz="1200" dirty="0"/>
          </a:p>
        </p:txBody>
      </p:sp>
      <p:sp>
        <p:nvSpPr>
          <p:cNvPr id="19" name="Shape 17"/>
          <p:cNvSpPr/>
          <p:nvPr/>
        </p:nvSpPr>
        <p:spPr>
          <a:xfrm>
            <a:off x="4663440" y="1993392"/>
            <a:ext cx="1188720" cy="128016"/>
          </a:xfrm>
          <a:prstGeom prst="rect">
            <a:avLst/>
          </a:prstGeom>
          <a:solidFill>
            <a:srgbClr val="E2E8F0"/>
          </a:solidFill>
          <a:ln/>
        </p:spPr>
      </p:sp>
      <p:sp>
        <p:nvSpPr>
          <p:cNvPr id="20" name="Shape 18"/>
          <p:cNvSpPr/>
          <p:nvPr/>
        </p:nvSpPr>
        <p:spPr>
          <a:xfrm>
            <a:off x="4663440" y="1993392"/>
            <a:ext cx="974750" cy="128016"/>
          </a:xfrm>
          <a:prstGeom prst="rect">
            <a:avLst/>
          </a:prstGeom>
          <a:solidFill>
            <a:srgbClr val="10B981"/>
          </a:solidFill>
          <a:ln/>
        </p:spPr>
      </p:sp>
      <p:sp>
        <p:nvSpPr>
          <p:cNvPr id="21" name="Text 19"/>
          <p:cNvSpPr/>
          <p:nvPr/>
        </p:nvSpPr>
        <p:spPr>
          <a:xfrm>
            <a:off x="5897880" y="1856232"/>
            <a:ext cx="365760" cy="40233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82</a:t>
            </a:r>
            <a:endParaRPr lang="en-US" sz="1100" dirty="0"/>
          </a:p>
        </p:txBody>
      </p:sp>
      <p:sp>
        <p:nvSpPr>
          <p:cNvPr id="22" name="Text 20"/>
          <p:cNvSpPr/>
          <p:nvPr/>
        </p:nvSpPr>
        <p:spPr>
          <a:xfrm>
            <a:off x="6309360" y="1856232"/>
            <a:ext cx="2194560" cy="402336"/>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Prioritize</a:t>
            </a:r>
            <a:endParaRPr lang="en-US" sz="1100" dirty="0"/>
          </a:p>
        </p:txBody>
      </p:sp>
      <p:sp>
        <p:nvSpPr>
          <p:cNvPr id="23" name="Shape 21"/>
          <p:cNvSpPr/>
          <p:nvPr/>
        </p:nvSpPr>
        <p:spPr>
          <a:xfrm>
            <a:off x="640080" y="2295144"/>
            <a:ext cx="7863840" cy="402336"/>
          </a:xfrm>
          <a:prstGeom prst="rect">
            <a:avLst/>
          </a:prstGeom>
          <a:solidFill>
            <a:srgbClr val="F8FAFC"/>
          </a:solidFill>
          <a:ln/>
        </p:spPr>
      </p:sp>
      <p:sp>
        <p:nvSpPr>
          <p:cNvPr id="24" name="Text 22"/>
          <p:cNvSpPr/>
          <p:nvPr/>
        </p:nvSpPr>
        <p:spPr>
          <a:xfrm>
            <a:off x="731520" y="2295144"/>
            <a:ext cx="2743200" cy="40233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UC San Diego</a:t>
            </a:r>
            <a:endParaRPr lang="en-US" sz="1200" dirty="0"/>
          </a:p>
        </p:txBody>
      </p:sp>
      <p:sp>
        <p:nvSpPr>
          <p:cNvPr id="25" name="Text 23"/>
          <p:cNvSpPr/>
          <p:nvPr/>
        </p:nvSpPr>
        <p:spPr>
          <a:xfrm>
            <a:off x="3474720" y="2295144"/>
            <a:ext cx="1097280" cy="402336"/>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65K</a:t>
            </a:r>
            <a:endParaRPr lang="en-US" sz="1200" dirty="0"/>
          </a:p>
        </p:txBody>
      </p:sp>
      <p:sp>
        <p:nvSpPr>
          <p:cNvPr id="26" name="Shape 24"/>
          <p:cNvSpPr/>
          <p:nvPr/>
        </p:nvSpPr>
        <p:spPr>
          <a:xfrm>
            <a:off x="4663440" y="2432304"/>
            <a:ext cx="1188720" cy="128016"/>
          </a:xfrm>
          <a:prstGeom prst="rect">
            <a:avLst/>
          </a:prstGeom>
          <a:solidFill>
            <a:srgbClr val="E2E8F0"/>
          </a:solidFill>
          <a:ln/>
        </p:spPr>
      </p:sp>
      <p:sp>
        <p:nvSpPr>
          <p:cNvPr id="27" name="Shape 25"/>
          <p:cNvSpPr/>
          <p:nvPr/>
        </p:nvSpPr>
        <p:spPr>
          <a:xfrm>
            <a:off x="4663440" y="2432304"/>
            <a:ext cx="915314" cy="128016"/>
          </a:xfrm>
          <a:prstGeom prst="rect">
            <a:avLst/>
          </a:prstGeom>
          <a:solidFill>
            <a:srgbClr val="10B981"/>
          </a:solidFill>
          <a:ln/>
        </p:spPr>
      </p:sp>
      <p:sp>
        <p:nvSpPr>
          <p:cNvPr id="28" name="Text 26"/>
          <p:cNvSpPr/>
          <p:nvPr/>
        </p:nvSpPr>
        <p:spPr>
          <a:xfrm>
            <a:off x="5897880" y="2295144"/>
            <a:ext cx="365760" cy="40233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77</a:t>
            </a:r>
            <a:endParaRPr lang="en-US" sz="1100" dirty="0"/>
          </a:p>
        </p:txBody>
      </p:sp>
      <p:sp>
        <p:nvSpPr>
          <p:cNvPr id="29" name="Text 27"/>
          <p:cNvSpPr/>
          <p:nvPr/>
        </p:nvSpPr>
        <p:spPr>
          <a:xfrm>
            <a:off x="6309360" y="2295144"/>
            <a:ext cx="2194560" cy="402336"/>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Prioritize</a:t>
            </a:r>
            <a:endParaRPr lang="en-US" sz="1100" dirty="0"/>
          </a:p>
        </p:txBody>
      </p:sp>
      <p:sp>
        <p:nvSpPr>
          <p:cNvPr id="30" name="Shape 28"/>
          <p:cNvSpPr/>
          <p:nvPr/>
        </p:nvSpPr>
        <p:spPr>
          <a:xfrm>
            <a:off x="640080" y="2734056"/>
            <a:ext cx="7863840" cy="402336"/>
          </a:xfrm>
          <a:prstGeom prst="rect">
            <a:avLst/>
          </a:prstGeom>
          <a:solidFill>
            <a:srgbClr val="FFFFFF"/>
          </a:solidFill>
          <a:ln/>
        </p:spPr>
      </p:sp>
      <p:sp>
        <p:nvSpPr>
          <p:cNvPr id="31" name="Text 29"/>
          <p:cNvSpPr/>
          <p:nvPr/>
        </p:nvSpPr>
        <p:spPr>
          <a:xfrm>
            <a:off x="731520" y="2734056"/>
            <a:ext cx="2743200" cy="40233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UT Arlington</a:t>
            </a:r>
            <a:endParaRPr lang="en-US" sz="1200" dirty="0"/>
          </a:p>
        </p:txBody>
      </p:sp>
      <p:sp>
        <p:nvSpPr>
          <p:cNvPr id="32" name="Text 30"/>
          <p:cNvSpPr/>
          <p:nvPr/>
        </p:nvSpPr>
        <p:spPr>
          <a:xfrm>
            <a:off x="3474720" y="2734056"/>
            <a:ext cx="1097280" cy="402336"/>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50K</a:t>
            </a:r>
            <a:endParaRPr lang="en-US" sz="1200" dirty="0"/>
          </a:p>
        </p:txBody>
      </p:sp>
      <p:sp>
        <p:nvSpPr>
          <p:cNvPr id="33" name="Shape 31"/>
          <p:cNvSpPr/>
          <p:nvPr/>
        </p:nvSpPr>
        <p:spPr>
          <a:xfrm>
            <a:off x="4663440" y="2871216"/>
            <a:ext cx="1188720" cy="128016"/>
          </a:xfrm>
          <a:prstGeom prst="rect">
            <a:avLst/>
          </a:prstGeom>
          <a:solidFill>
            <a:srgbClr val="E2E8F0"/>
          </a:solidFill>
          <a:ln/>
        </p:spPr>
      </p:sp>
      <p:sp>
        <p:nvSpPr>
          <p:cNvPr id="34" name="Shape 32"/>
          <p:cNvSpPr/>
          <p:nvPr/>
        </p:nvSpPr>
        <p:spPr>
          <a:xfrm>
            <a:off x="4663440" y="2871216"/>
            <a:ext cx="879653" cy="128016"/>
          </a:xfrm>
          <a:prstGeom prst="rect">
            <a:avLst/>
          </a:prstGeom>
          <a:solidFill>
            <a:srgbClr val="10B981"/>
          </a:solidFill>
          <a:ln/>
        </p:spPr>
      </p:sp>
      <p:sp>
        <p:nvSpPr>
          <p:cNvPr id="35" name="Text 33"/>
          <p:cNvSpPr/>
          <p:nvPr/>
        </p:nvSpPr>
        <p:spPr>
          <a:xfrm>
            <a:off x="5897880" y="2734056"/>
            <a:ext cx="365760" cy="40233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74</a:t>
            </a:r>
            <a:endParaRPr lang="en-US" sz="1100" dirty="0"/>
          </a:p>
        </p:txBody>
      </p:sp>
      <p:sp>
        <p:nvSpPr>
          <p:cNvPr id="36" name="Text 34"/>
          <p:cNvSpPr/>
          <p:nvPr/>
        </p:nvSpPr>
        <p:spPr>
          <a:xfrm>
            <a:off x="6309360" y="2734056"/>
            <a:ext cx="2194560" cy="402336"/>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Prioritize</a:t>
            </a:r>
            <a:endParaRPr lang="en-US" sz="1100" dirty="0"/>
          </a:p>
        </p:txBody>
      </p:sp>
      <p:sp>
        <p:nvSpPr>
          <p:cNvPr id="37" name="Shape 35"/>
          <p:cNvSpPr/>
          <p:nvPr/>
        </p:nvSpPr>
        <p:spPr>
          <a:xfrm>
            <a:off x="640080" y="3172968"/>
            <a:ext cx="7863840" cy="402336"/>
          </a:xfrm>
          <a:prstGeom prst="rect">
            <a:avLst/>
          </a:prstGeom>
          <a:solidFill>
            <a:srgbClr val="F8FAFC"/>
          </a:solidFill>
          <a:ln/>
        </p:spPr>
      </p:sp>
      <p:sp>
        <p:nvSpPr>
          <p:cNvPr id="38" name="Text 36"/>
          <p:cNvSpPr/>
          <p:nvPr/>
        </p:nvSpPr>
        <p:spPr>
          <a:xfrm>
            <a:off x="731520" y="3172968"/>
            <a:ext cx="2743200" cy="40233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UC Irvine</a:t>
            </a:r>
            <a:endParaRPr lang="en-US" sz="1200" dirty="0"/>
          </a:p>
        </p:txBody>
      </p:sp>
      <p:sp>
        <p:nvSpPr>
          <p:cNvPr id="39" name="Text 37"/>
          <p:cNvSpPr/>
          <p:nvPr/>
        </p:nvSpPr>
        <p:spPr>
          <a:xfrm>
            <a:off x="3474720" y="3172968"/>
            <a:ext cx="1097280" cy="402336"/>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56K</a:t>
            </a:r>
            <a:endParaRPr lang="en-US" sz="1200" dirty="0"/>
          </a:p>
        </p:txBody>
      </p:sp>
      <p:sp>
        <p:nvSpPr>
          <p:cNvPr id="40" name="Shape 38"/>
          <p:cNvSpPr/>
          <p:nvPr/>
        </p:nvSpPr>
        <p:spPr>
          <a:xfrm>
            <a:off x="4663440" y="3310128"/>
            <a:ext cx="1188720" cy="128016"/>
          </a:xfrm>
          <a:prstGeom prst="rect">
            <a:avLst/>
          </a:prstGeom>
          <a:solidFill>
            <a:srgbClr val="E2E8F0"/>
          </a:solidFill>
          <a:ln/>
        </p:spPr>
      </p:sp>
      <p:sp>
        <p:nvSpPr>
          <p:cNvPr id="41" name="Shape 39"/>
          <p:cNvSpPr/>
          <p:nvPr/>
        </p:nvSpPr>
        <p:spPr>
          <a:xfrm>
            <a:off x="4663440" y="3310128"/>
            <a:ext cx="784555" cy="128016"/>
          </a:xfrm>
          <a:prstGeom prst="rect">
            <a:avLst/>
          </a:prstGeom>
          <a:solidFill>
            <a:srgbClr val="10B981"/>
          </a:solidFill>
          <a:ln/>
        </p:spPr>
      </p:sp>
      <p:sp>
        <p:nvSpPr>
          <p:cNvPr id="42" name="Text 40"/>
          <p:cNvSpPr/>
          <p:nvPr/>
        </p:nvSpPr>
        <p:spPr>
          <a:xfrm>
            <a:off x="5897880" y="3172968"/>
            <a:ext cx="365760" cy="40233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66</a:t>
            </a:r>
            <a:endParaRPr lang="en-US" sz="1100" dirty="0"/>
          </a:p>
        </p:txBody>
      </p:sp>
      <p:sp>
        <p:nvSpPr>
          <p:cNvPr id="43" name="Text 41"/>
          <p:cNvSpPr/>
          <p:nvPr/>
        </p:nvSpPr>
        <p:spPr>
          <a:xfrm>
            <a:off x="6309360" y="3172968"/>
            <a:ext cx="2194560" cy="402336"/>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Prioritize</a:t>
            </a:r>
            <a:endParaRPr lang="en-US" sz="1100" dirty="0"/>
          </a:p>
        </p:txBody>
      </p:sp>
      <p:sp>
        <p:nvSpPr>
          <p:cNvPr id="44" name="Shape 42"/>
          <p:cNvSpPr/>
          <p:nvPr/>
        </p:nvSpPr>
        <p:spPr>
          <a:xfrm>
            <a:off x="640080" y="3840480"/>
            <a:ext cx="7863840" cy="914400"/>
          </a:xfrm>
          <a:prstGeom prst="rect">
            <a:avLst/>
          </a:prstGeom>
          <a:solidFill>
            <a:srgbClr val="ECFDF5"/>
          </a:solidFill>
          <a:ln/>
          <a:effectLst>
            <a:outerShdw sx="100000" sy="100000" kx="0" ky="0" algn="bl" rotWithShape="0" blurRad="101600" dist="38100" dir="8100000">
              <a:srgbClr val="000000">
                <a:alpha val="10000"/>
              </a:srgbClr>
            </a:outerShdw>
          </a:effectLst>
        </p:spPr>
      </p:sp>
      <p:sp>
        <p:nvSpPr>
          <p:cNvPr id="45" name="Shape 43"/>
          <p:cNvSpPr/>
          <p:nvPr/>
        </p:nvSpPr>
        <p:spPr>
          <a:xfrm>
            <a:off x="640080" y="3840480"/>
            <a:ext cx="54864" cy="914400"/>
          </a:xfrm>
          <a:prstGeom prst="rect">
            <a:avLst/>
          </a:prstGeom>
          <a:solidFill>
            <a:srgbClr val="10B981"/>
          </a:solidFill>
          <a:ln/>
        </p:spPr>
      </p:sp>
      <p:sp>
        <p:nvSpPr>
          <p:cNvPr id="46" name="Text 44"/>
          <p:cNvSpPr/>
          <p:nvPr/>
        </p:nvSpPr>
        <p:spPr>
          <a:xfrm>
            <a:off x="822960" y="3886200"/>
            <a:ext cx="7498080" cy="82296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Key Insight: </a:t>
            </a:r>
            <a:pPr indent="0" marL="0">
              <a:buNone/>
            </a:pPr>
            <a:r>
              <a:rPr lang="en-US" sz="1100" dirty="0">
                <a:solidFill>
                  <a:srgbClr val="1E293B"/>
                </a:solidFill>
                <a:latin typeface="Calibri" pitchFamily="34" charset="0"/>
                <a:ea typeface="Calibri" pitchFamily="34" charset="-122"/>
                <a:cs typeface="Calibri" pitchFamily="34" charset="-120"/>
              </a:rPr>
              <a:t>Out-of-state expansions (Georgia Tech, UT Arlington) score highest due to large, untapped populations with strong financial need. UC system schools have high absolute TAM but longer partnership tenure reduces "freshness" advantage.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B365D"/>
          </a:solidFill>
          <a:ln/>
        </p:spPr>
      </p:sp>
      <p:sp>
        <p:nvSpPr>
          <p:cNvPr id="3" name="Text 1"/>
          <p:cNvSpPr/>
          <p:nvPr/>
        </p:nvSpPr>
        <p:spPr>
          <a:xfrm>
            <a:off x="640080" y="274320"/>
            <a:ext cx="7315200" cy="54864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Strategic Recommendations</a:t>
            </a:r>
            <a:endParaRPr lang="en-US" sz="2800" dirty="0"/>
          </a:p>
        </p:txBody>
      </p:sp>
      <p:sp>
        <p:nvSpPr>
          <p:cNvPr id="4" name="Shape 2"/>
          <p:cNvSpPr/>
          <p:nvPr/>
        </p:nvSpPr>
        <p:spPr>
          <a:xfrm>
            <a:off x="640080" y="960120"/>
            <a:ext cx="7863840" cy="960120"/>
          </a:xfrm>
          <a:prstGeom prst="rect">
            <a:avLst/>
          </a:prstGeom>
          <a:solidFill>
            <a:srgbClr val="F1F5F9"/>
          </a:solidFill>
          <a:ln/>
          <a:effectLst>
            <a:outerShdw sx="100000" sy="100000" kx="0" ky="0" algn="bl" rotWithShape="0" blurRad="101600" dist="38100" dir="8100000">
              <a:srgbClr val="000000">
                <a:alpha val="10000"/>
              </a:srgbClr>
            </a:outerShdw>
          </a:effectLst>
        </p:spPr>
      </p:sp>
      <p:sp>
        <p:nvSpPr>
          <p:cNvPr id="5" name="Shape 3"/>
          <p:cNvSpPr/>
          <p:nvPr/>
        </p:nvSpPr>
        <p:spPr>
          <a:xfrm>
            <a:off x="640080" y="960120"/>
            <a:ext cx="54864" cy="960120"/>
          </a:xfrm>
          <a:prstGeom prst="rect">
            <a:avLst/>
          </a:prstGeom>
          <a:solidFill>
            <a:srgbClr val="10B981"/>
          </a:solidFill>
          <a:ln/>
        </p:spPr>
      </p:sp>
      <p:sp>
        <p:nvSpPr>
          <p:cNvPr id="6" name="Shape 4"/>
          <p:cNvSpPr/>
          <p:nvPr/>
        </p:nvSpPr>
        <p:spPr>
          <a:xfrm>
            <a:off x="868680" y="1188720"/>
            <a:ext cx="548640" cy="548640"/>
          </a:xfrm>
          <a:prstGeom prst="ellipse">
            <a:avLst/>
          </a:prstGeom>
          <a:solidFill>
            <a:srgbClr val="10B981"/>
          </a:solidFill>
          <a:ln/>
        </p:spPr>
      </p:sp>
      <p:sp>
        <p:nvSpPr>
          <p:cNvPr id="7" name="Text 5"/>
          <p:cNvSpPr/>
          <p:nvPr/>
        </p:nvSpPr>
        <p:spPr>
          <a:xfrm>
            <a:off x="868680" y="1188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01</a:t>
            </a:r>
            <a:endParaRPr lang="en-US" sz="1600" dirty="0"/>
          </a:p>
        </p:txBody>
      </p:sp>
      <p:sp>
        <p:nvSpPr>
          <p:cNvPr id="8" name="Text 6"/>
          <p:cNvSpPr/>
          <p:nvPr/>
        </p:nvSpPr>
        <p:spPr>
          <a:xfrm>
            <a:off x="1645920" y="1051560"/>
            <a:ext cx="667512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Double Down on Out-of-State</a:t>
            </a:r>
            <a:endParaRPr lang="en-US" sz="1400" dirty="0"/>
          </a:p>
        </p:txBody>
      </p:sp>
      <p:sp>
        <p:nvSpPr>
          <p:cNvPr id="9" name="Text 7"/>
          <p:cNvSpPr/>
          <p:nvPr/>
        </p:nvSpPr>
        <p:spPr>
          <a:xfrm>
            <a:off x="1645920" y="1371600"/>
            <a:ext cx="66751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Georgia Tech &amp; UT Arlington have 110K+ combined addressable population with near-zero current penetration. Prioritize on-campus presence, student ambassador programs, and athletic partnership activations.</a:t>
            </a:r>
            <a:endParaRPr lang="en-US" sz="1100" dirty="0"/>
          </a:p>
        </p:txBody>
      </p:sp>
      <p:sp>
        <p:nvSpPr>
          <p:cNvPr id="10" name="Shape 8"/>
          <p:cNvSpPr/>
          <p:nvPr/>
        </p:nvSpPr>
        <p:spPr>
          <a:xfrm>
            <a:off x="640080" y="2057400"/>
            <a:ext cx="7863840" cy="960120"/>
          </a:xfrm>
          <a:prstGeom prst="rect">
            <a:avLst/>
          </a:prstGeom>
          <a:solidFill>
            <a:srgbClr val="F1F5F9"/>
          </a:solidFill>
          <a:ln/>
          <a:effectLst>
            <a:outerShdw sx="100000" sy="100000" kx="0" ky="0" algn="bl" rotWithShape="0" blurRad="101600" dist="38100" dir="8100000">
              <a:srgbClr val="000000">
                <a:alpha val="10000"/>
              </a:srgbClr>
            </a:outerShdw>
          </a:effectLst>
        </p:spPr>
      </p:sp>
      <p:sp>
        <p:nvSpPr>
          <p:cNvPr id="11" name="Shape 9"/>
          <p:cNvSpPr/>
          <p:nvPr/>
        </p:nvSpPr>
        <p:spPr>
          <a:xfrm>
            <a:off x="640080" y="2057400"/>
            <a:ext cx="54864" cy="960120"/>
          </a:xfrm>
          <a:prstGeom prst="rect">
            <a:avLst/>
          </a:prstGeom>
          <a:solidFill>
            <a:srgbClr val="0891B2"/>
          </a:solidFill>
          <a:ln/>
        </p:spPr>
      </p:sp>
      <p:sp>
        <p:nvSpPr>
          <p:cNvPr id="12" name="Shape 10"/>
          <p:cNvSpPr/>
          <p:nvPr/>
        </p:nvSpPr>
        <p:spPr>
          <a:xfrm>
            <a:off x="868680" y="2286000"/>
            <a:ext cx="548640" cy="548640"/>
          </a:xfrm>
          <a:prstGeom prst="ellipse">
            <a:avLst/>
          </a:prstGeom>
          <a:solidFill>
            <a:srgbClr val="0891B2"/>
          </a:solidFill>
          <a:ln/>
        </p:spPr>
      </p:sp>
      <p:sp>
        <p:nvSpPr>
          <p:cNvPr id="13" name="Text 11"/>
          <p:cNvSpPr/>
          <p:nvPr/>
        </p:nvSpPr>
        <p:spPr>
          <a:xfrm>
            <a:off x="868680"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02</a:t>
            </a:r>
            <a:endParaRPr lang="en-US" sz="1600" dirty="0"/>
          </a:p>
        </p:txBody>
      </p:sp>
      <p:sp>
        <p:nvSpPr>
          <p:cNvPr id="14" name="Text 12"/>
          <p:cNvSpPr/>
          <p:nvPr/>
        </p:nvSpPr>
        <p:spPr>
          <a:xfrm>
            <a:off x="1645920" y="2148840"/>
            <a:ext cx="667512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Deepen UC System Engagement</a:t>
            </a:r>
            <a:endParaRPr lang="en-US" sz="1400" dirty="0"/>
          </a:p>
        </p:txBody>
      </p:sp>
      <p:sp>
        <p:nvSpPr>
          <p:cNvPr id="15" name="Text 13"/>
          <p:cNvSpPr/>
          <p:nvPr/>
        </p:nvSpPr>
        <p:spPr>
          <a:xfrm>
            <a:off x="1645920" y="2468880"/>
            <a:ext cx="66751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UC Davis, UCSD, and UCI collectively represent 187K+ people. Focus on product differentiation vs. existing campus CU competitors. Leverage alumni network as a growth lever.</a:t>
            </a:r>
            <a:endParaRPr lang="en-US" sz="1100" dirty="0"/>
          </a:p>
        </p:txBody>
      </p:sp>
      <p:sp>
        <p:nvSpPr>
          <p:cNvPr id="16" name="Shape 14"/>
          <p:cNvSpPr/>
          <p:nvPr/>
        </p:nvSpPr>
        <p:spPr>
          <a:xfrm>
            <a:off x="640080" y="3154680"/>
            <a:ext cx="7863840" cy="960120"/>
          </a:xfrm>
          <a:prstGeom prst="rect">
            <a:avLst/>
          </a:prstGeom>
          <a:solidFill>
            <a:srgbClr val="F1F5F9"/>
          </a:solidFill>
          <a:ln/>
          <a:effectLst>
            <a:outerShdw sx="100000" sy="100000" kx="0" ky="0" algn="bl" rotWithShape="0" blurRad="101600" dist="38100" dir="8100000">
              <a:srgbClr val="000000">
                <a:alpha val="10000"/>
              </a:srgbClr>
            </a:outerShdw>
          </a:effectLst>
        </p:spPr>
      </p:sp>
      <p:sp>
        <p:nvSpPr>
          <p:cNvPr id="17" name="Shape 15"/>
          <p:cNvSpPr/>
          <p:nvPr/>
        </p:nvSpPr>
        <p:spPr>
          <a:xfrm>
            <a:off x="640080" y="3154680"/>
            <a:ext cx="54864" cy="960120"/>
          </a:xfrm>
          <a:prstGeom prst="rect">
            <a:avLst/>
          </a:prstGeom>
          <a:solidFill>
            <a:srgbClr val="F59E0B"/>
          </a:solidFill>
          <a:ln/>
        </p:spPr>
      </p:sp>
      <p:sp>
        <p:nvSpPr>
          <p:cNvPr id="18" name="Shape 16"/>
          <p:cNvSpPr/>
          <p:nvPr/>
        </p:nvSpPr>
        <p:spPr>
          <a:xfrm>
            <a:off x="868680" y="3383280"/>
            <a:ext cx="548640" cy="548640"/>
          </a:xfrm>
          <a:prstGeom prst="ellipse">
            <a:avLst/>
          </a:prstGeom>
          <a:solidFill>
            <a:srgbClr val="F59E0B"/>
          </a:solidFill>
          <a:ln/>
        </p:spPr>
      </p:sp>
      <p:sp>
        <p:nvSpPr>
          <p:cNvPr id="19" name="Text 17"/>
          <p:cNvSpPr/>
          <p:nvPr/>
        </p:nvSpPr>
        <p:spPr>
          <a:xfrm>
            <a:off x="868680" y="33832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03</a:t>
            </a:r>
            <a:endParaRPr lang="en-US" sz="1600" dirty="0"/>
          </a:p>
        </p:txBody>
      </p:sp>
      <p:sp>
        <p:nvSpPr>
          <p:cNvPr id="20" name="Text 18"/>
          <p:cNvSpPr/>
          <p:nvPr/>
        </p:nvSpPr>
        <p:spPr>
          <a:xfrm>
            <a:off x="1645920" y="3246120"/>
            <a:ext cx="667512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New Partner Onboarding Playbook</a:t>
            </a:r>
            <a:endParaRPr lang="en-US" sz="1400" dirty="0"/>
          </a:p>
        </p:txBody>
      </p:sp>
      <p:sp>
        <p:nvSpPr>
          <p:cNvPr id="21" name="Text 19"/>
          <p:cNvSpPr/>
          <p:nvPr/>
        </p:nvSpPr>
        <p:spPr>
          <a:xfrm>
            <a:off x="1645920" y="3566160"/>
            <a:ext cx="66751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ACU, Saint Mary's, and UT Arlington all joined within 1-2 years. Develop a standardized 90-day onboarding sprint with clear KPIs to accelerate early membership conversion.</a:t>
            </a:r>
            <a:endParaRPr lang="en-US" sz="1100" dirty="0"/>
          </a:p>
        </p:txBody>
      </p:sp>
      <p:sp>
        <p:nvSpPr>
          <p:cNvPr id="22" name="Shape 20"/>
          <p:cNvSpPr/>
          <p:nvPr/>
        </p:nvSpPr>
        <p:spPr>
          <a:xfrm>
            <a:off x="640080" y="4297680"/>
            <a:ext cx="7863840" cy="548640"/>
          </a:xfrm>
          <a:prstGeom prst="rect">
            <a:avLst/>
          </a:prstGeom>
          <a:solidFill>
            <a:srgbClr val="FEF3C7"/>
          </a:solidFill>
          <a:ln/>
        </p:spPr>
      </p:sp>
      <p:sp>
        <p:nvSpPr>
          <p:cNvPr id="23" name="Text 21"/>
          <p:cNvSpPr/>
          <p:nvPr/>
        </p:nvSpPr>
        <p:spPr>
          <a:xfrm>
            <a:off x="822960" y="4297680"/>
            <a:ext cx="7498080" cy="548640"/>
          </a:xfrm>
          <a:prstGeom prst="rect">
            <a:avLst/>
          </a:prstGeom>
          <a:noFill/>
          <a:ln/>
        </p:spPr>
        <p:txBody>
          <a:bodyPr wrap="square" lIns="0" tIns="0" rIns="0" bIns="0" rtlCol="0" anchor="ctr"/>
          <a:lstStyle/>
          <a:p>
            <a:pPr indent="0" marL="0">
              <a:buNone/>
            </a:pPr>
            <a:r>
              <a:rPr lang="en-US" sz="1300" b="1" dirty="0">
                <a:solidFill>
                  <a:srgbClr val="92400E"/>
                </a:solidFill>
                <a:latin typeface="Calibri" pitchFamily="34" charset="0"/>
                <a:ea typeface="Calibri" pitchFamily="34" charset="-122"/>
                <a:cs typeface="Calibri" pitchFamily="34" charset="-120"/>
              </a:rPr>
              <a:t>Impact: </a:t>
            </a:r>
            <a:pPr indent="0" marL="0">
              <a:buNone/>
            </a:pPr>
            <a:r>
              <a:rPr lang="en-US" sz="1300" dirty="0">
                <a:solidFill>
                  <a:srgbClr val="92400E"/>
                </a:solidFill>
                <a:latin typeface="Calibri" pitchFamily="34" charset="0"/>
                <a:ea typeface="Calibri" pitchFamily="34" charset="-122"/>
                <a:cs typeface="Calibri" pitchFamily="34" charset="-120"/>
              </a:rPr>
              <a:t>A 5-point penetration increase → ~22,000 new member-owners → significant deposit &amp; loan growth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44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640080" y="27432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I'd Deliver in 6 Weeks</a:t>
            </a:r>
            <a:endParaRPr lang="en-US" sz="2800" dirty="0"/>
          </a:p>
        </p:txBody>
      </p:sp>
      <p:sp>
        <p:nvSpPr>
          <p:cNvPr id="4" name="Shape 2"/>
          <p:cNvSpPr/>
          <p:nvPr/>
        </p:nvSpPr>
        <p:spPr>
          <a:xfrm>
            <a:off x="640080" y="1097280"/>
            <a:ext cx="2560320" cy="2194560"/>
          </a:xfrm>
          <a:prstGeom prst="rect">
            <a:avLst/>
          </a:prstGeom>
          <a:solidFill>
            <a:srgbClr val="1A2E4A"/>
          </a:solidFill>
          <a:ln/>
          <a:effectLst>
            <a:outerShdw sx="100000" sy="100000" kx="0" ky="0" algn="bl" rotWithShape="0" blurRad="101600" dist="38100" dir="8100000">
              <a:srgbClr val="000000">
                <a:alpha val="10000"/>
              </a:srgbClr>
            </a:outerShdw>
          </a:effectLst>
        </p:spPr>
      </p:sp>
      <p:sp>
        <p:nvSpPr>
          <p:cNvPr id="5" name="Shape 3"/>
          <p:cNvSpPr/>
          <p:nvPr/>
        </p:nvSpPr>
        <p:spPr>
          <a:xfrm>
            <a:off x="640080" y="1097280"/>
            <a:ext cx="2560320" cy="54864"/>
          </a:xfrm>
          <a:prstGeom prst="rect">
            <a:avLst/>
          </a:prstGeom>
          <a:solidFill>
            <a:srgbClr val="1B365D"/>
          </a:solidFill>
          <a:ln/>
        </p:spPr>
      </p:sp>
      <p:sp>
        <p:nvSpPr>
          <p:cNvPr id="6" name="Text 4"/>
          <p:cNvSpPr/>
          <p:nvPr/>
        </p:nvSpPr>
        <p:spPr>
          <a:xfrm>
            <a:off x="777240" y="1234440"/>
            <a:ext cx="2286000" cy="320040"/>
          </a:xfrm>
          <a:prstGeom prst="rect">
            <a:avLst/>
          </a:prstGeom>
          <a:noFill/>
          <a:ln/>
        </p:spPr>
        <p:txBody>
          <a:bodyPr wrap="square" lIns="0" tIns="0" rIns="0" bIns="0" rtlCol="0" anchor="ctr"/>
          <a:lstStyle/>
          <a:p>
            <a:pPr indent="0" marL="0">
              <a:buNone/>
            </a:pPr>
            <a:r>
              <a:rPr lang="en-US" sz="1100" b="1" spc="200" kern="0" dirty="0">
                <a:solidFill>
                  <a:srgbClr val="1B365D"/>
                </a:solidFill>
                <a:latin typeface="Trebuchet MS" pitchFamily="34" charset="0"/>
                <a:ea typeface="Trebuchet MS" pitchFamily="34" charset="-122"/>
                <a:cs typeface="Trebuchet MS" pitchFamily="34" charset="-120"/>
              </a:rPr>
              <a:t>Week 1-2</a:t>
            </a:r>
            <a:endParaRPr lang="en-US" sz="1100" dirty="0"/>
          </a:p>
        </p:txBody>
      </p:sp>
      <p:sp>
        <p:nvSpPr>
          <p:cNvPr id="7" name="Text 5"/>
          <p:cNvSpPr/>
          <p:nvPr/>
        </p:nvSpPr>
        <p:spPr>
          <a:xfrm>
            <a:off x="777240" y="1554480"/>
            <a:ext cx="228600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Data Infrastructure</a:t>
            </a:r>
            <a:endParaRPr lang="en-US" sz="1500" dirty="0"/>
          </a:p>
        </p:txBody>
      </p:sp>
      <p:sp>
        <p:nvSpPr>
          <p:cNvPr id="8" name="Text 6"/>
          <p:cNvSpPr/>
          <p:nvPr/>
        </p:nvSpPr>
        <p:spPr>
          <a:xfrm>
            <a:off x="777240" y="2011680"/>
            <a:ext cx="2286000" cy="10972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Connect internal membership DB, build automated ETL pipeline, create documented data model</a:t>
            </a:r>
            <a:endParaRPr lang="en-US" sz="1100" dirty="0"/>
          </a:p>
        </p:txBody>
      </p:sp>
      <p:sp>
        <p:nvSpPr>
          <p:cNvPr id="9" name="Shape 7"/>
          <p:cNvSpPr/>
          <p:nvPr/>
        </p:nvSpPr>
        <p:spPr>
          <a:xfrm>
            <a:off x="3474720" y="1097280"/>
            <a:ext cx="2560320" cy="2194560"/>
          </a:xfrm>
          <a:prstGeom prst="rect">
            <a:avLst/>
          </a:prstGeom>
          <a:solidFill>
            <a:srgbClr val="1A2E4A"/>
          </a:solidFill>
          <a:ln/>
          <a:effectLst>
            <a:outerShdw sx="100000" sy="100000" kx="0" ky="0" algn="bl" rotWithShape="0" blurRad="101600" dist="38100" dir="8100000">
              <a:srgbClr val="000000">
                <a:alpha val="10000"/>
              </a:srgbClr>
            </a:outerShdw>
          </a:effectLst>
        </p:spPr>
      </p:sp>
      <p:sp>
        <p:nvSpPr>
          <p:cNvPr id="10" name="Shape 8"/>
          <p:cNvSpPr/>
          <p:nvPr/>
        </p:nvSpPr>
        <p:spPr>
          <a:xfrm>
            <a:off x="3474720" y="1097280"/>
            <a:ext cx="2560320" cy="54864"/>
          </a:xfrm>
          <a:prstGeom prst="rect">
            <a:avLst/>
          </a:prstGeom>
          <a:solidFill>
            <a:srgbClr val="0891B2"/>
          </a:solidFill>
          <a:ln/>
        </p:spPr>
      </p:sp>
      <p:sp>
        <p:nvSpPr>
          <p:cNvPr id="11" name="Text 9"/>
          <p:cNvSpPr/>
          <p:nvPr/>
        </p:nvSpPr>
        <p:spPr>
          <a:xfrm>
            <a:off x="3611880" y="1234440"/>
            <a:ext cx="2286000" cy="320040"/>
          </a:xfrm>
          <a:prstGeom prst="rect">
            <a:avLst/>
          </a:prstGeom>
          <a:noFill/>
          <a:ln/>
        </p:spPr>
        <p:txBody>
          <a:bodyPr wrap="square" lIns="0" tIns="0" rIns="0" bIns="0" rtlCol="0" anchor="ctr"/>
          <a:lstStyle/>
          <a:p>
            <a:pPr indent="0" marL="0">
              <a:buNone/>
            </a:pPr>
            <a:r>
              <a:rPr lang="en-US" sz="1100" b="1" spc="200" kern="0" dirty="0">
                <a:solidFill>
                  <a:srgbClr val="0891B2"/>
                </a:solidFill>
                <a:latin typeface="Trebuchet MS" pitchFamily="34" charset="0"/>
                <a:ea typeface="Trebuchet MS" pitchFamily="34" charset="-122"/>
                <a:cs typeface="Trebuchet MS" pitchFamily="34" charset="-120"/>
              </a:rPr>
              <a:t>Week 3-4</a:t>
            </a:r>
            <a:endParaRPr lang="en-US" sz="1100" dirty="0"/>
          </a:p>
        </p:txBody>
      </p:sp>
      <p:sp>
        <p:nvSpPr>
          <p:cNvPr id="12" name="Text 10"/>
          <p:cNvSpPr/>
          <p:nvPr/>
        </p:nvSpPr>
        <p:spPr>
          <a:xfrm>
            <a:off x="3611880" y="1554480"/>
            <a:ext cx="228600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Analysis &amp; Dashboards</a:t>
            </a:r>
            <a:endParaRPr lang="en-US" sz="1500" dirty="0"/>
          </a:p>
        </p:txBody>
      </p:sp>
      <p:sp>
        <p:nvSpPr>
          <p:cNvPr id="13" name="Text 11"/>
          <p:cNvSpPr/>
          <p:nvPr/>
        </p:nvSpPr>
        <p:spPr>
          <a:xfrm>
            <a:off x="3611880" y="2011680"/>
            <a:ext cx="2286000" cy="10972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Calculate actual penetration rates, build product adoption funnels, identify seasonal patterns</a:t>
            </a:r>
            <a:endParaRPr lang="en-US" sz="1100" dirty="0"/>
          </a:p>
        </p:txBody>
      </p:sp>
      <p:sp>
        <p:nvSpPr>
          <p:cNvPr id="14" name="Shape 12"/>
          <p:cNvSpPr/>
          <p:nvPr/>
        </p:nvSpPr>
        <p:spPr>
          <a:xfrm>
            <a:off x="6309360" y="1097280"/>
            <a:ext cx="2560320" cy="2194560"/>
          </a:xfrm>
          <a:prstGeom prst="rect">
            <a:avLst/>
          </a:prstGeom>
          <a:solidFill>
            <a:srgbClr val="1A2E4A"/>
          </a:solidFill>
          <a:ln/>
          <a:effectLst>
            <a:outerShdw sx="100000" sy="100000" kx="0" ky="0" algn="bl" rotWithShape="0" blurRad="101600" dist="38100" dir="8100000">
              <a:srgbClr val="000000">
                <a:alpha val="10000"/>
              </a:srgbClr>
            </a:outerShdw>
          </a:effectLst>
        </p:spPr>
      </p:sp>
      <p:sp>
        <p:nvSpPr>
          <p:cNvPr id="15" name="Shape 13"/>
          <p:cNvSpPr/>
          <p:nvPr/>
        </p:nvSpPr>
        <p:spPr>
          <a:xfrm>
            <a:off x="6309360" y="1097280"/>
            <a:ext cx="2560320" cy="54864"/>
          </a:xfrm>
          <a:prstGeom prst="rect">
            <a:avLst/>
          </a:prstGeom>
          <a:solidFill>
            <a:srgbClr val="F59E0B"/>
          </a:solidFill>
          <a:ln/>
        </p:spPr>
      </p:sp>
      <p:sp>
        <p:nvSpPr>
          <p:cNvPr id="16" name="Text 14"/>
          <p:cNvSpPr/>
          <p:nvPr/>
        </p:nvSpPr>
        <p:spPr>
          <a:xfrm>
            <a:off x="6446520" y="1234440"/>
            <a:ext cx="2286000" cy="320040"/>
          </a:xfrm>
          <a:prstGeom prst="rect">
            <a:avLst/>
          </a:prstGeom>
          <a:noFill/>
          <a:ln/>
        </p:spPr>
        <p:txBody>
          <a:bodyPr wrap="square" lIns="0" tIns="0" rIns="0" bIns="0" rtlCol="0" anchor="ctr"/>
          <a:lstStyle/>
          <a:p>
            <a:pPr indent="0" marL="0">
              <a:buNone/>
            </a:pPr>
            <a:r>
              <a:rPr lang="en-US" sz="1100" b="1" spc="200" kern="0" dirty="0">
                <a:solidFill>
                  <a:srgbClr val="F59E0B"/>
                </a:solidFill>
                <a:latin typeface="Trebuchet MS" pitchFamily="34" charset="0"/>
                <a:ea typeface="Trebuchet MS" pitchFamily="34" charset="-122"/>
                <a:cs typeface="Trebuchet MS" pitchFamily="34" charset="-120"/>
              </a:rPr>
              <a:t>Week 5-6</a:t>
            </a:r>
            <a:endParaRPr lang="en-US" sz="1100" dirty="0"/>
          </a:p>
        </p:txBody>
      </p:sp>
      <p:sp>
        <p:nvSpPr>
          <p:cNvPr id="17" name="Text 15"/>
          <p:cNvSpPr/>
          <p:nvPr/>
        </p:nvSpPr>
        <p:spPr>
          <a:xfrm>
            <a:off x="6446520" y="1554480"/>
            <a:ext cx="2286000" cy="36576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Strategic Handoff</a:t>
            </a:r>
            <a:endParaRPr lang="en-US" sz="1500" dirty="0"/>
          </a:p>
        </p:txBody>
      </p:sp>
      <p:sp>
        <p:nvSpPr>
          <p:cNvPr id="18" name="Text 16"/>
          <p:cNvSpPr/>
          <p:nvPr/>
        </p:nvSpPr>
        <p:spPr>
          <a:xfrm>
            <a:off x="6446520" y="2011680"/>
            <a:ext cx="2286000" cy="10972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Executive-ready report, documented pipelines, prioritized growth recommendations for leadership</a:t>
            </a:r>
            <a:endParaRPr lang="en-US" sz="1100" dirty="0"/>
          </a:p>
        </p:txBody>
      </p:sp>
      <p:sp>
        <p:nvSpPr>
          <p:cNvPr id="19" name="Shape 17"/>
          <p:cNvSpPr/>
          <p:nvPr/>
        </p:nvSpPr>
        <p:spPr>
          <a:xfrm>
            <a:off x="640080" y="3566160"/>
            <a:ext cx="7863840" cy="640080"/>
          </a:xfrm>
          <a:prstGeom prst="rect">
            <a:avLst/>
          </a:prstGeom>
          <a:solidFill>
            <a:srgbClr val="1A2E4A"/>
          </a:solidFill>
          <a:ln/>
        </p:spPr>
      </p:sp>
      <p:sp>
        <p:nvSpPr>
          <p:cNvPr id="20" name="Text 18"/>
          <p:cNvSpPr/>
          <p:nvPr/>
        </p:nvSpPr>
        <p:spPr>
          <a:xfrm>
            <a:off x="822960" y="3566160"/>
            <a:ext cx="7498080" cy="6400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Today's Analysis = Proof of Concept  →  </a:t>
            </a:r>
            <a:pPr indent="0" marL="0">
              <a:buNone/>
            </a:pPr>
            <a:r>
              <a:rPr lang="en-US" sz="1200" b="1" dirty="0">
                <a:solidFill>
                  <a:srgbClr val="0891B2"/>
                </a:solidFill>
                <a:latin typeface="Calibri" pitchFamily="34" charset="0"/>
                <a:ea typeface="Calibri" pitchFamily="34" charset="-122"/>
                <a:cs typeface="Calibri" pitchFamily="34" charset="-120"/>
              </a:rPr>
              <a:t>With UCU's internal data, this scales into a real-time growth intelligence tool.</a:t>
            </a:r>
            <a:endParaRPr lang="en-US" sz="1200" dirty="0"/>
          </a:p>
        </p:txBody>
      </p:sp>
      <p:sp>
        <p:nvSpPr>
          <p:cNvPr id="21" name="Shape 19"/>
          <p:cNvSpPr/>
          <p:nvPr/>
        </p:nvSpPr>
        <p:spPr>
          <a:xfrm>
            <a:off x="640080" y="4389120"/>
            <a:ext cx="2286000" cy="36576"/>
          </a:xfrm>
          <a:prstGeom prst="rect">
            <a:avLst/>
          </a:prstGeom>
          <a:solidFill>
            <a:srgbClr val="F59E0B"/>
          </a:solidFill>
          <a:ln/>
        </p:spPr>
      </p:sp>
      <p:sp>
        <p:nvSpPr>
          <p:cNvPr id="22" name="Text 20"/>
          <p:cNvSpPr/>
          <p:nvPr/>
        </p:nvSpPr>
        <p:spPr>
          <a:xfrm>
            <a:off x="640080" y="4480560"/>
            <a:ext cx="457200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Pranav Piedy</a:t>
            </a:r>
            <a:endParaRPr lang="en-US" sz="1400" dirty="0"/>
          </a:p>
          <a:p>
            <a:pPr indent="0" marL="0">
              <a:buNone/>
            </a:pPr>
            <a:r>
              <a:rPr lang="en-US" sz="1100" dirty="0">
                <a:solidFill>
                  <a:srgbClr val="94A3B8"/>
                </a:solidFill>
                <a:latin typeface="Calibri" pitchFamily="34" charset="0"/>
                <a:ea typeface="Calibri" pitchFamily="34" charset="-122"/>
                <a:cs typeface="Calibri" pitchFamily="34" charset="-120"/>
              </a:rPr>
              <a:t>pranavpiedy@ucla.edu  |  213-859-4612  |  LinkedIn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UCU Partnership Growth Strategy Analysis</dc:title>
  <dc:subject>PptxGenJS Presentation</dc:subject>
  <dc:creator>Pranav Piedy</dc:creator>
  <cp:lastModifiedBy>Pranav Piedy</cp:lastModifiedBy>
  <cp:revision>1</cp:revision>
  <dcterms:created xsi:type="dcterms:W3CDTF">2026-03-24T22:45:57Z</dcterms:created>
  <dcterms:modified xsi:type="dcterms:W3CDTF">2026-03-24T22:45:57Z</dcterms:modified>
</cp:coreProperties>
</file>